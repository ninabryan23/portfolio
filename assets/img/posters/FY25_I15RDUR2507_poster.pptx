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727" r:id="rId2"/>
  </p:sldMasterIdLst>
  <p:notesMasterIdLst>
    <p:notesMasterId r:id="rId4"/>
  </p:notesMasterIdLst>
  <p:sldIdLst>
    <p:sldId id="293" r:id="rId3"/>
  </p:sldIdLst>
  <p:sldSz cx="21945600" cy="32918400"/>
  <p:notesSz cx="7315200" cy="12344400"/>
  <p:defaultTextStyle>
    <a:defPPr>
      <a:defRPr lang="en-US"/>
    </a:defPPr>
    <a:lvl1pPr marL="0" algn="l" defTabSz="2911994" rtl="0" eaLnBrk="1" latinLnBrk="0" hangingPunct="1">
      <a:defRPr sz="5798" kern="1200">
        <a:solidFill>
          <a:schemeClr val="tx1"/>
        </a:solidFill>
        <a:latin typeface="+mn-lt"/>
        <a:ea typeface="+mn-ea"/>
        <a:cs typeface="+mn-cs"/>
      </a:defRPr>
    </a:lvl1pPr>
    <a:lvl2pPr marL="1455997" algn="l" defTabSz="2911994" rtl="0" eaLnBrk="1" latinLnBrk="0" hangingPunct="1">
      <a:defRPr sz="5798" kern="1200">
        <a:solidFill>
          <a:schemeClr val="tx1"/>
        </a:solidFill>
        <a:latin typeface="+mn-lt"/>
        <a:ea typeface="+mn-ea"/>
        <a:cs typeface="+mn-cs"/>
      </a:defRPr>
    </a:lvl2pPr>
    <a:lvl3pPr marL="2911994" algn="l" defTabSz="2911994" rtl="0" eaLnBrk="1" latinLnBrk="0" hangingPunct="1">
      <a:defRPr sz="5798" kern="1200">
        <a:solidFill>
          <a:schemeClr val="tx1"/>
        </a:solidFill>
        <a:latin typeface="+mn-lt"/>
        <a:ea typeface="+mn-ea"/>
        <a:cs typeface="+mn-cs"/>
      </a:defRPr>
    </a:lvl3pPr>
    <a:lvl4pPr marL="4367993" algn="l" defTabSz="2911994" rtl="0" eaLnBrk="1" latinLnBrk="0" hangingPunct="1">
      <a:defRPr sz="5798" kern="1200">
        <a:solidFill>
          <a:schemeClr val="tx1"/>
        </a:solidFill>
        <a:latin typeface="+mn-lt"/>
        <a:ea typeface="+mn-ea"/>
        <a:cs typeface="+mn-cs"/>
      </a:defRPr>
    </a:lvl4pPr>
    <a:lvl5pPr marL="5823988" algn="l" defTabSz="2911994" rtl="0" eaLnBrk="1" latinLnBrk="0" hangingPunct="1">
      <a:defRPr sz="5798" kern="1200">
        <a:solidFill>
          <a:schemeClr val="tx1"/>
        </a:solidFill>
        <a:latin typeface="+mn-lt"/>
        <a:ea typeface="+mn-ea"/>
        <a:cs typeface="+mn-cs"/>
      </a:defRPr>
    </a:lvl5pPr>
    <a:lvl6pPr marL="7279987" algn="l" defTabSz="2911994" rtl="0" eaLnBrk="1" latinLnBrk="0" hangingPunct="1">
      <a:defRPr sz="5798" kern="1200">
        <a:solidFill>
          <a:schemeClr val="tx1"/>
        </a:solidFill>
        <a:latin typeface="+mn-lt"/>
        <a:ea typeface="+mn-ea"/>
        <a:cs typeface="+mn-cs"/>
      </a:defRPr>
    </a:lvl6pPr>
    <a:lvl7pPr marL="8735982" algn="l" defTabSz="2911994" rtl="0" eaLnBrk="1" latinLnBrk="0" hangingPunct="1">
      <a:defRPr sz="5798" kern="1200">
        <a:solidFill>
          <a:schemeClr val="tx1"/>
        </a:solidFill>
        <a:latin typeface="+mn-lt"/>
        <a:ea typeface="+mn-ea"/>
        <a:cs typeface="+mn-cs"/>
      </a:defRPr>
    </a:lvl7pPr>
    <a:lvl8pPr marL="10191981" algn="l" defTabSz="2911994" rtl="0" eaLnBrk="1" latinLnBrk="0" hangingPunct="1">
      <a:defRPr sz="5798" kern="1200">
        <a:solidFill>
          <a:schemeClr val="tx1"/>
        </a:solidFill>
        <a:latin typeface="+mn-lt"/>
        <a:ea typeface="+mn-ea"/>
        <a:cs typeface="+mn-cs"/>
      </a:defRPr>
    </a:lvl8pPr>
    <a:lvl9pPr marL="11647978" algn="l" defTabSz="2911994" rtl="0" eaLnBrk="1" latinLnBrk="0" hangingPunct="1">
      <a:defRPr sz="5798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5" pos="6914" userDrawn="1">
          <p15:clr>
            <a:srgbClr val="A4A3A4"/>
          </p15:clr>
        </p15:guide>
        <p15:guide id="17" pos="576" userDrawn="1">
          <p15:clr>
            <a:srgbClr val="A4A3A4"/>
          </p15:clr>
        </p15:guide>
        <p15:guide id="18" orient="horz" userDrawn="1">
          <p15:clr>
            <a:srgbClr val="A4A3A4"/>
          </p15:clr>
        </p15:guide>
        <p15:guide id="19" pos="6672" userDrawn="1">
          <p15:clr>
            <a:srgbClr val="A4A3A4"/>
          </p15:clr>
        </p15:guide>
        <p15:guide id="20" pos="7152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3887" userDrawn="1">
          <p15:clr>
            <a:srgbClr val="A4A3A4"/>
          </p15:clr>
        </p15:guide>
        <p15:guide id="2" pos="2303" userDrawn="1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A9975C"/>
    <a:srgbClr val="C6B36B"/>
    <a:srgbClr val="00325E"/>
    <a:srgbClr val="7A96B2"/>
    <a:srgbClr val="DAE3F3"/>
    <a:srgbClr val="97ADC3"/>
    <a:srgbClr val="A5C3E1"/>
    <a:srgbClr val="AAD4FF"/>
    <a:srgbClr val="002341"/>
    <a:srgbClr val="F4EF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073A0DAA-6AF3-43AB-8588-CEC1D06C72B9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793D81CF-94F2-401A-BA57-92F5A7B2D0C5}" styleName="Medium Style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dk1"/>
              </a:solidFill>
            </a:ln>
          </a:left>
          <a:right>
            <a:ln w="12700" cmpd="sng">
              <a:solidFill>
                <a:schemeClr val="dk1"/>
              </a:solidFill>
            </a:ln>
          </a:right>
          <a:top>
            <a:ln w="12700" cmpd="sng">
              <a:solidFill>
                <a:schemeClr val="dk1"/>
              </a:solidFill>
            </a:ln>
          </a:top>
          <a:bottom>
            <a:ln w="12700" cmpd="sng">
              <a:solidFill>
                <a:schemeClr val="dk1"/>
              </a:solidFill>
            </a:ln>
          </a:bottom>
          <a:insideH>
            <a:ln w="12700" cmpd="sng">
              <a:solidFill>
                <a:schemeClr val="dk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Row>
  </a:tblStyle>
  <a:tblStyle styleId="{8EC20E35-A176-4012-BC5E-935CFFF8708E}" styleName="Medium Style 3">
    <a:wholeTbl>
      <a:tcTxStyle>
        <a:fontRef idx="minor"/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00A15C55-8517-42AA-B614-E9B94910E393}" styleName="Medium Style 2 - Accent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5270" autoAdjust="0"/>
    <p:restoredTop sz="96338" autoAdjust="0"/>
  </p:normalViewPr>
  <p:slideViewPr>
    <p:cSldViewPr showGuides="1">
      <p:cViewPr>
        <p:scale>
          <a:sx n="33" d="100"/>
          <a:sy n="33" d="100"/>
        </p:scale>
        <p:origin x="2632" y="-992"/>
      </p:cViewPr>
      <p:guideLst>
        <p:guide pos="6914"/>
        <p:guide pos="576"/>
        <p:guide orient="horz"/>
        <p:guide pos="6672"/>
        <p:guide pos="715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" d="1"/>
        <a:sy n="1" d="1"/>
      </p:scale>
      <p:origin x="0" y="0"/>
    </p:cViewPr>
  </p:notesTextViewPr>
  <p:sorterViewPr>
    <p:cViewPr varScale="1">
      <p:scale>
        <a:sx n="100" d="100"/>
        <a:sy n="100" d="100"/>
      </p:scale>
      <p:origin x="0" y="-4752"/>
    </p:cViewPr>
  </p:sorterViewPr>
  <p:notesViewPr>
    <p:cSldViewPr showGuides="1">
      <p:cViewPr varScale="1">
        <p:scale>
          <a:sx n="64" d="100"/>
          <a:sy n="64" d="100"/>
        </p:scale>
        <p:origin x="4164" y="72"/>
      </p:cViewPr>
      <p:guideLst>
        <p:guide orient="horz" pos="3887"/>
        <p:guide pos="2303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1.xml"/><Relationship Id="rId7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1" Type="http://schemas.openxmlformats.org/officeDocument/2006/relationships/customXml" Target="../customXml/item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1" y="2"/>
            <a:ext cx="3169196" cy="616220"/>
          </a:xfrm>
          <a:prstGeom prst="rect">
            <a:avLst/>
          </a:prstGeom>
        </p:spPr>
        <p:txBody>
          <a:bodyPr vert="horz" lIns="84411" tIns="42206" rIns="84411" bIns="42206" rtlCol="0"/>
          <a:lstStyle>
            <a:lvl1pPr algn="l">
              <a:defRPr sz="10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4144335" y="2"/>
            <a:ext cx="3169196" cy="616220"/>
          </a:xfrm>
          <a:prstGeom prst="rect">
            <a:avLst/>
          </a:prstGeom>
        </p:spPr>
        <p:txBody>
          <a:bodyPr vert="horz" lIns="84411" tIns="42206" rIns="84411" bIns="42206" rtlCol="0"/>
          <a:lstStyle>
            <a:lvl1pPr algn="r">
              <a:defRPr sz="1000"/>
            </a:lvl1pPr>
          </a:lstStyle>
          <a:p>
            <a:fld id="{651819AA-B41A-40A3-9C20-21EA90F62779}" type="datetimeFigureOut">
              <a:rPr lang="en-US" smtClean="0"/>
              <a:t>7/10/25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2114550" y="922338"/>
            <a:ext cx="3086100" cy="4629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84411" tIns="42206" rIns="84411" bIns="42206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731353" y="5864091"/>
            <a:ext cx="5852494" cy="5554868"/>
          </a:xfrm>
          <a:prstGeom prst="rect">
            <a:avLst/>
          </a:prstGeom>
        </p:spPr>
        <p:txBody>
          <a:bodyPr vert="horz" lIns="84411" tIns="42206" rIns="84411" bIns="42206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" y="11725959"/>
            <a:ext cx="3169196" cy="616217"/>
          </a:xfrm>
          <a:prstGeom prst="rect">
            <a:avLst/>
          </a:prstGeom>
        </p:spPr>
        <p:txBody>
          <a:bodyPr vert="horz" lIns="84411" tIns="42206" rIns="84411" bIns="42206" rtlCol="0" anchor="b"/>
          <a:lstStyle>
            <a:lvl1pPr algn="l">
              <a:defRPr sz="10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4144335" y="11725959"/>
            <a:ext cx="3169196" cy="616217"/>
          </a:xfrm>
          <a:prstGeom prst="rect">
            <a:avLst/>
          </a:prstGeom>
        </p:spPr>
        <p:txBody>
          <a:bodyPr vert="horz" lIns="84411" tIns="42206" rIns="84411" bIns="42206" rtlCol="0" anchor="b"/>
          <a:lstStyle>
            <a:lvl1pPr algn="r">
              <a:defRPr sz="1000"/>
            </a:lvl1pPr>
          </a:lstStyle>
          <a:p>
            <a:fld id="{4B7AA0E3-CFDF-4DDE-B584-074392BD282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3430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2038499" rtl="0" eaLnBrk="1" latinLnBrk="0" hangingPunct="1">
      <a:defRPr sz="2676" kern="1200">
        <a:solidFill>
          <a:schemeClr val="tx1"/>
        </a:solidFill>
        <a:latin typeface="+mn-lt"/>
        <a:ea typeface="+mn-ea"/>
        <a:cs typeface="+mn-cs"/>
      </a:defRPr>
    </a:lvl1pPr>
    <a:lvl2pPr marL="1019250" algn="l" defTabSz="2038499" rtl="0" eaLnBrk="1" latinLnBrk="0" hangingPunct="1">
      <a:defRPr sz="2676" kern="1200">
        <a:solidFill>
          <a:schemeClr val="tx1"/>
        </a:solidFill>
        <a:latin typeface="+mn-lt"/>
        <a:ea typeface="+mn-ea"/>
        <a:cs typeface="+mn-cs"/>
      </a:defRPr>
    </a:lvl2pPr>
    <a:lvl3pPr marL="2038499" algn="l" defTabSz="2038499" rtl="0" eaLnBrk="1" latinLnBrk="0" hangingPunct="1">
      <a:defRPr sz="2676" kern="1200">
        <a:solidFill>
          <a:schemeClr val="tx1"/>
        </a:solidFill>
        <a:latin typeface="+mn-lt"/>
        <a:ea typeface="+mn-ea"/>
        <a:cs typeface="+mn-cs"/>
      </a:defRPr>
    </a:lvl3pPr>
    <a:lvl4pPr marL="3057746" algn="l" defTabSz="2038499" rtl="0" eaLnBrk="1" latinLnBrk="0" hangingPunct="1">
      <a:defRPr sz="2676" kern="1200">
        <a:solidFill>
          <a:schemeClr val="tx1"/>
        </a:solidFill>
        <a:latin typeface="+mn-lt"/>
        <a:ea typeface="+mn-ea"/>
        <a:cs typeface="+mn-cs"/>
      </a:defRPr>
    </a:lvl4pPr>
    <a:lvl5pPr marL="4076996" algn="l" defTabSz="2038499" rtl="0" eaLnBrk="1" latinLnBrk="0" hangingPunct="1">
      <a:defRPr sz="2676" kern="1200">
        <a:solidFill>
          <a:schemeClr val="tx1"/>
        </a:solidFill>
        <a:latin typeface="+mn-lt"/>
        <a:ea typeface="+mn-ea"/>
        <a:cs typeface="+mn-cs"/>
      </a:defRPr>
    </a:lvl5pPr>
    <a:lvl6pPr marL="5096245" algn="l" defTabSz="2038499" rtl="0" eaLnBrk="1" latinLnBrk="0" hangingPunct="1">
      <a:defRPr sz="2676" kern="1200">
        <a:solidFill>
          <a:schemeClr val="tx1"/>
        </a:solidFill>
        <a:latin typeface="+mn-lt"/>
        <a:ea typeface="+mn-ea"/>
        <a:cs typeface="+mn-cs"/>
      </a:defRPr>
    </a:lvl6pPr>
    <a:lvl7pPr marL="6115495" algn="l" defTabSz="2038499" rtl="0" eaLnBrk="1" latinLnBrk="0" hangingPunct="1">
      <a:defRPr sz="2676" kern="1200">
        <a:solidFill>
          <a:schemeClr val="tx1"/>
        </a:solidFill>
        <a:latin typeface="+mn-lt"/>
        <a:ea typeface="+mn-ea"/>
        <a:cs typeface="+mn-cs"/>
      </a:defRPr>
    </a:lvl7pPr>
    <a:lvl8pPr marL="7134742" algn="l" defTabSz="2038499" rtl="0" eaLnBrk="1" latinLnBrk="0" hangingPunct="1">
      <a:defRPr sz="2676" kern="1200">
        <a:solidFill>
          <a:schemeClr val="tx1"/>
        </a:solidFill>
        <a:latin typeface="+mn-lt"/>
        <a:ea typeface="+mn-ea"/>
        <a:cs typeface="+mn-cs"/>
      </a:defRPr>
    </a:lvl8pPr>
    <a:lvl9pPr marL="8153992" algn="l" defTabSz="2038499" rtl="0" eaLnBrk="1" latinLnBrk="0" hangingPunct="1">
      <a:defRPr sz="2676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Quad with Title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70790548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  <p:extLst>
    <p:ext uri="{DCECCB84-F9BA-43D5-87BE-67443E8EF086}">
      <p15:sldGuideLst xmlns:p15="http://schemas.microsoft.com/office/powerpoint/2012/main">
        <p15:guide id="1" orient="horz" pos="10368" userDrawn="1">
          <p15:clr>
            <a:srgbClr val="FBAE40"/>
          </p15:clr>
        </p15:guide>
        <p15:guide id="2" pos="6912" userDrawn="1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>
            <a:extLst>
              <a:ext uri="{FF2B5EF4-FFF2-40B4-BE49-F238E27FC236}">
                <a16:creationId xmlns:a16="http://schemas.microsoft.com/office/drawing/2014/main" id="{33461A52-A0F6-4AAC-B90A-02A35D34A46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152400"/>
            <a:ext cx="21945600" cy="2548128"/>
          </a:xfrm>
          <a:prstGeom prst="rect">
            <a:avLst/>
          </a:prstGeom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118A1425-4A93-4230-8610-82FE57D220E2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0" y="32250888"/>
            <a:ext cx="21945600" cy="658368"/>
          </a:xfrm>
          <a:prstGeom prst="rect">
            <a:avLst/>
          </a:prstGeom>
        </p:spPr>
      </p:pic>
      <p:sp>
        <p:nvSpPr>
          <p:cNvPr id="13" name="TextBox 12">
            <a:extLst>
              <a:ext uri="{FF2B5EF4-FFF2-40B4-BE49-F238E27FC236}">
                <a16:creationId xmlns:a16="http://schemas.microsoft.com/office/drawing/2014/main" id="{DA878F09-85B5-3346-9988-3FDD155D28C1}"/>
              </a:ext>
            </a:extLst>
          </p:cNvPr>
          <p:cNvSpPr txBox="1"/>
          <p:nvPr userDrawn="1"/>
        </p:nvSpPr>
        <p:spPr>
          <a:xfrm>
            <a:off x="533401" y="32418489"/>
            <a:ext cx="20878799" cy="3231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500" b="1" i="0" dirty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GTRI PROPRIETARY: </a:t>
            </a:r>
            <a:r>
              <a:rPr lang="en-US" sz="1500" b="0" i="0" dirty="0">
                <a:solidFill>
                  <a:schemeClr val="bg1"/>
                </a:solidFill>
                <a:latin typeface="Arial Narrow" panose="020B0604020202020204" pitchFamily="34" charset="0"/>
                <a:cs typeface="Arial Narrow" panose="020B0604020202020204" pitchFamily="34" charset="0"/>
              </a:rPr>
              <a:t>This document has not been reviewed for public release nor for release to non-US citizens. It may contain technical data whose export is restricted by US export law. This document should not be further distributed outside of GTRI without written release by GTRI management.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3CAE251-A6D1-FC4B-BA45-A12A4F1199B4}"/>
              </a:ext>
            </a:extLst>
          </p:cNvPr>
          <p:cNvSpPr/>
          <p:nvPr userDrawn="1"/>
        </p:nvSpPr>
        <p:spPr>
          <a:xfrm>
            <a:off x="0" y="0"/>
            <a:ext cx="21945600" cy="32918400"/>
          </a:xfrm>
          <a:prstGeom prst="rect">
            <a:avLst/>
          </a:prstGeom>
          <a:noFill/>
          <a:ln w="12700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5822"/>
          </a:p>
        </p:txBody>
      </p:sp>
      <p:sp>
        <p:nvSpPr>
          <p:cNvPr id="2" name="Rectangle 1">
            <a:extLst>
              <a:ext uri="{FF2B5EF4-FFF2-40B4-BE49-F238E27FC236}">
                <a16:creationId xmlns:a16="http://schemas.microsoft.com/office/drawing/2014/main" id="{72D4A3B5-03D2-9587-13BF-F420DC652284}"/>
              </a:ext>
            </a:extLst>
          </p:cNvPr>
          <p:cNvSpPr/>
          <p:nvPr userDrawn="1"/>
        </p:nvSpPr>
        <p:spPr>
          <a:xfrm>
            <a:off x="0" y="0"/>
            <a:ext cx="21945600" cy="182880"/>
          </a:xfrm>
          <a:prstGeom prst="rect">
            <a:avLst/>
          </a:prstGeom>
          <a:solidFill>
            <a:srgbClr val="C6B36B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835575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</p:sldLayoutIdLst>
  <p:txStyles>
    <p:titleStyle>
      <a:lvl1pPr algn="l" defTabSz="2992566" rtl="0" eaLnBrk="1" latinLnBrk="0" hangingPunct="1">
        <a:lnSpc>
          <a:spcPct val="90000"/>
        </a:lnSpc>
        <a:spcBef>
          <a:spcPct val="0"/>
        </a:spcBef>
        <a:buNone/>
        <a:defRPr sz="14399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748141" indent="-748141" algn="l" defTabSz="2992566" rtl="0" eaLnBrk="1" latinLnBrk="0" hangingPunct="1">
        <a:lnSpc>
          <a:spcPct val="90000"/>
        </a:lnSpc>
        <a:spcBef>
          <a:spcPts val="3274"/>
        </a:spcBef>
        <a:buFont typeface="Arial" panose="020B0604020202020204" pitchFamily="34" charset="0"/>
        <a:buChar char="•"/>
        <a:defRPr sz="9163" kern="1200">
          <a:solidFill>
            <a:schemeClr val="tx1"/>
          </a:solidFill>
          <a:latin typeface="+mn-lt"/>
          <a:ea typeface="+mn-ea"/>
          <a:cs typeface="+mn-cs"/>
        </a:defRPr>
      </a:lvl1pPr>
      <a:lvl2pPr marL="2244426" indent="-748141" algn="l" defTabSz="2992566" rtl="0" eaLnBrk="1" latinLnBrk="0" hangingPunct="1">
        <a:lnSpc>
          <a:spcPct val="90000"/>
        </a:lnSpc>
        <a:spcBef>
          <a:spcPts val="1637"/>
        </a:spcBef>
        <a:buFont typeface="Arial" panose="020B0604020202020204" pitchFamily="34" charset="0"/>
        <a:buChar char="•"/>
        <a:defRPr sz="7853" kern="1200">
          <a:solidFill>
            <a:schemeClr val="tx1"/>
          </a:solidFill>
          <a:latin typeface="+mn-lt"/>
          <a:ea typeface="+mn-ea"/>
          <a:cs typeface="+mn-cs"/>
        </a:defRPr>
      </a:lvl2pPr>
      <a:lvl3pPr marL="3740710" indent="-748141" algn="l" defTabSz="2992566" rtl="0" eaLnBrk="1" latinLnBrk="0" hangingPunct="1">
        <a:lnSpc>
          <a:spcPct val="90000"/>
        </a:lnSpc>
        <a:spcBef>
          <a:spcPts val="1637"/>
        </a:spcBef>
        <a:buFont typeface="Arial" panose="020B0604020202020204" pitchFamily="34" charset="0"/>
        <a:buChar char="•"/>
        <a:defRPr sz="6546" kern="1200">
          <a:solidFill>
            <a:schemeClr val="tx1"/>
          </a:solidFill>
          <a:latin typeface="+mn-lt"/>
          <a:ea typeface="+mn-ea"/>
          <a:cs typeface="+mn-cs"/>
        </a:defRPr>
      </a:lvl3pPr>
      <a:lvl4pPr marL="5236992" indent="-748141" algn="l" defTabSz="2992566" rtl="0" eaLnBrk="1" latinLnBrk="0" hangingPunct="1">
        <a:lnSpc>
          <a:spcPct val="90000"/>
        </a:lnSpc>
        <a:spcBef>
          <a:spcPts val="1637"/>
        </a:spcBef>
        <a:buFont typeface="Arial" panose="020B0604020202020204" pitchFamily="34" charset="0"/>
        <a:buChar char="•"/>
        <a:defRPr sz="5891" kern="1200">
          <a:solidFill>
            <a:schemeClr val="tx1"/>
          </a:solidFill>
          <a:latin typeface="+mn-lt"/>
          <a:ea typeface="+mn-ea"/>
          <a:cs typeface="+mn-cs"/>
        </a:defRPr>
      </a:lvl4pPr>
      <a:lvl5pPr marL="6733276" indent="-748141" algn="l" defTabSz="2992566" rtl="0" eaLnBrk="1" latinLnBrk="0" hangingPunct="1">
        <a:lnSpc>
          <a:spcPct val="90000"/>
        </a:lnSpc>
        <a:spcBef>
          <a:spcPts val="1637"/>
        </a:spcBef>
        <a:buFont typeface="Arial" panose="020B0604020202020204" pitchFamily="34" charset="0"/>
        <a:buChar char="•"/>
        <a:defRPr sz="5891" kern="1200">
          <a:solidFill>
            <a:schemeClr val="tx1"/>
          </a:solidFill>
          <a:latin typeface="+mn-lt"/>
          <a:ea typeface="+mn-ea"/>
          <a:cs typeface="+mn-cs"/>
        </a:defRPr>
      </a:lvl5pPr>
      <a:lvl6pPr marL="8229558" indent="-748141" algn="l" defTabSz="2992566" rtl="0" eaLnBrk="1" latinLnBrk="0" hangingPunct="1">
        <a:lnSpc>
          <a:spcPct val="90000"/>
        </a:lnSpc>
        <a:spcBef>
          <a:spcPts val="1637"/>
        </a:spcBef>
        <a:buFont typeface="Arial" panose="020B0604020202020204" pitchFamily="34" charset="0"/>
        <a:buChar char="•"/>
        <a:defRPr sz="5891" kern="1200">
          <a:solidFill>
            <a:schemeClr val="tx1"/>
          </a:solidFill>
          <a:latin typeface="+mn-lt"/>
          <a:ea typeface="+mn-ea"/>
          <a:cs typeface="+mn-cs"/>
        </a:defRPr>
      </a:lvl6pPr>
      <a:lvl7pPr marL="9725842" indent="-748141" algn="l" defTabSz="2992566" rtl="0" eaLnBrk="1" latinLnBrk="0" hangingPunct="1">
        <a:lnSpc>
          <a:spcPct val="90000"/>
        </a:lnSpc>
        <a:spcBef>
          <a:spcPts val="1637"/>
        </a:spcBef>
        <a:buFont typeface="Arial" panose="020B0604020202020204" pitchFamily="34" charset="0"/>
        <a:buChar char="•"/>
        <a:defRPr sz="5891" kern="1200">
          <a:solidFill>
            <a:schemeClr val="tx1"/>
          </a:solidFill>
          <a:latin typeface="+mn-lt"/>
          <a:ea typeface="+mn-ea"/>
          <a:cs typeface="+mn-cs"/>
        </a:defRPr>
      </a:lvl7pPr>
      <a:lvl8pPr marL="11222127" indent="-748141" algn="l" defTabSz="2992566" rtl="0" eaLnBrk="1" latinLnBrk="0" hangingPunct="1">
        <a:lnSpc>
          <a:spcPct val="90000"/>
        </a:lnSpc>
        <a:spcBef>
          <a:spcPts val="1637"/>
        </a:spcBef>
        <a:buFont typeface="Arial" panose="020B0604020202020204" pitchFamily="34" charset="0"/>
        <a:buChar char="•"/>
        <a:defRPr sz="5891" kern="1200">
          <a:solidFill>
            <a:schemeClr val="tx1"/>
          </a:solidFill>
          <a:latin typeface="+mn-lt"/>
          <a:ea typeface="+mn-ea"/>
          <a:cs typeface="+mn-cs"/>
        </a:defRPr>
      </a:lvl8pPr>
      <a:lvl9pPr marL="12718408" indent="-748141" algn="l" defTabSz="2992566" rtl="0" eaLnBrk="1" latinLnBrk="0" hangingPunct="1">
        <a:lnSpc>
          <a:spcPct val="90000"/>
        </a:lnSpc>
        <a:spcBef>
          <a:spcPts val="1637"/>
        </a:spcBef>
        <a:buFont typeface="Arial" panose="020B0604020202020204" pitchFamily="34" charset="0"/>
        <a:buChar char="•"/>
        <a:defRPr sz="5891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992566" rtl="0" eaLnBrk="1" latinLnBrk="0" hangingPunct="1">
        <a:defRPr sz="5891" kern="1200">
          <a:solidFill>
            <a:schemeClr val="tx1"/>
          </a:solidFill>
          <a:latin typeface="+mn-lt"/>
          <a:ea typeface="+mn-ea"/>
          <a:cs typeface="+mn-cs"/>
        </a:defRPr>
      </a:lvl1pPr>
      <a:lvl2pPr marL="1496285" algn="l" defTabSz="2992566" rtl="0" eaLnBrk="1" latinLnBrk="0" hangingPunct="1">
        <a:defRPr sz="5891" kern="1200">
          <a:solidFill>
            <a:schemeClr val="tx1"/>
          </a:solidFill>
          <a:latin typeface="+mn-lt"/>
          <a:ea typeface="+mn-ea"/>
          <a:cs typeface="+mn-cs"/>
        </a:defRPr>
      </a:lvl2pPr>
      <a:lvl3pPr marL="2992566" algn="l" defTabSz="2992566" rtl="0" eaLnBrk="1" latinLnBrk="0" hangingPunct="1">
        <a:defRPr sz="5891" kern="1200">
          <a:solidFill>
            <a:schemeClr val="tx1"/>
          </a:solidFill>
          <a:latin typeface="+mn-lt"/>
          <a:ea typeface="+mn-ea"/>
          <a:cs typeface="+mn-cs"/>
        </a:defRPr>
      </a:lvl3pPr>
      <a:lvl4pPr marL="4488850" algn="l" defTabSz="2992566" rtl="0" eaLnBrk="1" latinLnBrk="0" hangingPunct="1">
        <a:defRPr sz="5891" kern="1200">
          <a:solidFill>
            <a:schemeClr val="tx1"/>
          </a:solidFill>
          <a:latin typeface="+mn-lt"/>
          <a:ea typeface="+mn-ea"/>
          <a:cs typeface="+mn-cs"/>
        </a:defRPr>
      </a:lvl4pPr>
      <a:lvl5pPr marL="5985132" algn="l" defTabSz="2992566" rtl="0" eaLnBrk="1" latinLnBrk="0" hangingPunct="1">
        <a:defRPr sz="5891" kern="1200">
          <a:solidFill>
            <a:schemeClr val="tx1"/>
          </a:solidFill>
          <a:latin typeface="+mn-lt"/>
          <a:ea typeface="+mn-ea"/>
          <a:cs typeface="+mn-cs"/>
        </a:defRPr>
      </a:lvl5pPr>
      <a:lvl6pPr marL="7481416" algn="l" defTabSz="2992566" rtl="0" eaLnBrk="1" latinLnBrk="0" hangingPunct="1">
        <a:defRPr sz="5891" kern="1200">
          <a:solidFill>
            <a:schemeClr val="tx1"/>
          </a:solidFill>
          <a:latin typeface="+mn-lt"/>
          <a:ea typeface="+mn-ea"/>
          <a:cs typeface="+mn-cs"/>
        </a:defRPr>
      </a:lvl6pPr>
      <a:lvl7pPr marL="8977701" algn="l" defTabSz="2992566" rtl="0" eaLnBrk="1" latinLnBrk="0" hangingPunct="1">
        <a:defRPr sz="5891" kern="1200">
          <a:solidFill>
            <a:schemeClr val="tx1"/>
          </a:solidFill>
          <a:latin typeface="+mn-lt"/>
          <a:ea typeface="+mn-ea"/>
          <a:cs typeface="+mn-cs"/>
        </a:defRPr>
      </a:lvl7pPr>
      <a:lvl8pPr marL="10473982" algn="l" defTabSz="2992566" rtl="0" eaLnBrk="1" latinLnBrk="0" hangingPunct="1">
        <a:defRPr sz="5891" kern="1200">
          <a:solidFill>
            <a:schemeClr val="tx1"/>
          </a:solidFill>
          <a:latin typeface="+mn-lt"/>
          <a:ea typeface="+mn-ea"/>
          <a:cs typeface="+mn-cs"/>
        </a:defRPr>
      </a:lvl8pPr>
      <a:lvl9pPr marL="11970267" algn="l" defTabSz="2992566" rtl="0" eaLnBrk="1" latinLnBrk="0" hangingPunct="1">
        <a:defRPr sz="5891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hyperlink" Target="mailto:courtney.crooks@gtri.gatech.edu" TargetMode="Externa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4" name="Group 23">
            <a:extLst>
              <a:ext uri="{FF2B5EF4-FFF2-40B4-BE49-F238E27FC236}">
                <a16:creationId xmlns:a16="http://schemas.microsoft.com/office/drawing/2014/main" id="{31A1CF68-AD44-44B1-A8C7-A12AD214F766}"/>
              </a:ext>
            </a:extLst>
          </p:cNvPr>
          <p:cNvGrpSpPr/>
          <p:nvPr/>
        </p:nvGrpSpPr>
        <p:grpSpPr>
          <a:xfrm>
            <a:off x="914404" y="5491162"/>
            <a:ext cx="9677396" cy="17368838"/>
            <a:chOff x="914404" y="5491162"/>
            <a:chExt cx="7924796" cy="17934508"/>
          </a:xfrm>
        </p:grpSpPr>
        <p:cxnSp>
          <p:nvCxnSpPr>
            <p:cNvPr id="13" name="Straight Connector 12">
              <a:extLst>
                <a:ext uri="{FF2B5EF4-FFF2-40B4-BE49-F238E27FC236}">
                  <a16:creationId xmlns:a16="http://schemas.microsoft.com/office/drawing/2014/main" id="{429E3A7A-46C9-455A-B7A3-60F46EAB6B29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4404" y="5491162"/>
              <a:ext cx="7924796" cy="0"/>
            </a:xfrm>
            <a:prstGeom prst="line">
              <a:avLst/>
            </a:prstGeom>
            <a:ln w="28575" cap="sq" cmpd="sng">
              <a:solidFill>
                <a:srgbClr val="002060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4" name="Straight Connector 13">
              <a:extLst>
                <a:ext uri="{FF2B5EF4-FFF2-40B4-BE49-F238E27FC236}">
                  <a16:creationId xmlns:a16="http://schemas.microsoft.com/office/drawing/2014/main" id="{428C351D-D20C-4A0F-9035-136018257363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4404" y="13905186"/>
              <a:ext cx="7924796" cy="0"/>
            </a:xfrm>
            <a:prstGeom prst="line">
              <a:avLst/>
            </a:prstGeom>
            <a:ln w="28575" cap="sq" cmpd="sng">
              <a:solidFill>
                <a:srgbClr val="002060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036A4D3D-049C-44D5-A8A8-CEE88E1B940F}"/>
                </a:ext>
              </a:extLst>
            </p:cNvPr>
            <p:cNvCxnSpPr>
              <a:cxnSpLocks/>
            </p:cNvCxnSpPr>
            <p:nvPr/>
          </p:nvCxnSpPr>
          <p:spPr>
            <a:xfrm flipH="1">
              <a:off x="914404" y="23425670"/>
              <a:ext cx="7924796" cy="0"/>
            </a:xfrm>
            <a:prstGeom prst="line">
              <a:avLst/>
            </a:prstGeom>
            <a:ln w="28575" cap="sq" cmpd="sng">
              <a:solidFill>
                <a:srgbClr val="002060"/>
              </a:solidFill>
              <a:prstDash val="solid"/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" name="TextBox 2">
            <a:extLst>
              <a:ext uri="{FF2B5EF4-FFF2-40B4-BE49-F238E27FC236}">
                <a16:creationId xmlns:a16="http://schemas.microsoft.com/office/drawing/2014/main" id="{C95ADA67-378A-D947-97EC-678E65991A65}"/>
              </a:ext>
            </a:extLst>
          </p:cNvPr>
          <p:cNvSpPr txBox="1"/>
          <p:nvPr/>
        </p:nvSpPr>
        <p:spPr>
          <a:xfrm>
            <a:off x="808790" y="5486399"/>
            <a:ext cx="9783010" cy="7884191"/>
          </a:xfrm>
          <a:prstGeom prst="rect">
            <a:avLst/>
          </a:prstGeom>
          <a:noFill/>
        </p:spPr>
        <p:txBody>
          <a:bodyPr wrap="square" numCol="1" rtlCol="0">
            <a:noAutofit/>
          </a:bodyPr>
          <a:lstStyle/>
          <a:p>
            <a:pPr marL="14288" indent="-14288">
              <a:spcAft>
                <a:spcPts val="1673"/>
              </a:spcAft>
            </a:pPr>
            <a:r>
              <a:rPr lang="en-US" sz="4000" b="1" dirty="0">
                <a:solidFill>
                  <a:srgbClr val="A9975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CHALLENGES</a:t>
            </a:r>
          </a:p>
          <a:p>
            <a:pPr marL="346075" indent="-346075">
              <a:spcAft>
                <a:spcPts val="1073"/>
              </a:spcAft>
              <a:buFont typeface="Arial" panose="020B0604020202020204" pitchFamily="34" charset="0"/>
              <a:buChar char="•"/>
            </a:pPr>
            <a:r>
              <a:rPr lang="en-US" sz="3812" dirty="0">
                <a:solidFill>
                  <a:srgbClr val="0023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Operationally relevant simulation software may be under strict security protocols and/or expensive</a:t>
            </a:r>
          </a:p>
          <a:p>
            <a:pPr marL="1802072" lvl="1" indent="-346075">
              <a:spcAft>
                <a:spcPts val="1073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23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Overall process of ideation to simulation can be a slow, tedious process</a:t>
            </a:r>
          </a:p>
          <a:p>
            <a:pPr marL="346075" indent="-346075">
              <a:spcAft>
                <a:spcPts val="1073"/>
              </a:spcAft>
              <a:buFont typeface="Arial" panose="020B0604020202020204" pitchFamily="34" charset="0"/>
              <a:buChar char="•"/>
            </a:pPr>
            <a:r>
              <a:rPr lang="en-US" sz="3812" dirty="0">
                <a:solidFill>
                  <a:srgbClr val="0023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Lack of free programs that can be used to recreate countries in 1-to-1 scale in Minecraft</a:t>
            </a:r>
          </a:p>
          <a:p>
            <a:pPr marL="1802072" lvl="1" indent="-346075">
              <a:spcAft>
                <a:spcPts val="1073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23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Insufficient computational power (e.g., only 32 GB of RAM) </a:t>
            </a:r>
          </a:p>
          <a:p>
            <a:pPr marL="346075" indent="-346075">
              <a:spcAft>
                <a:spcPts val="1073"/>
              </a:spcAft>
              <a:buFont typeface="Arial" panose="020B0604020202020204" pitchFamily="34" charset="0"/>
              <a:buChar char="•"/>
            </a:pPr>
            <a:r>
              <a:rPr lang="en-US" sz="3810" dirty="0">
                <a:solidFill>
                  <a:srgbClr val="0023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Reinforcement Learning (RL) agent interaction with modified elements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81580296-E3D3-0F4D-80F9-03F1A9E21B89}"/>
              </a:ext>
            </a:extLst>
          </p:cNvPr>
          <p:cNvSpPr txBox="1"/>
          <p:nvPr/>
        </p:nvSpPr>
        <p:spPr>
          <a:xfrm>
            <a:off x="685799" y="23012415"/>
            <a:ext cx="9795042" cy="8458185"/>
          </a:xfrm>
          <a:prstGeom prst="rect">
            <a:avLst/>
          </a:prstGeom>
          <a:noFill/>
        </p:spPr>
        <p:txBody>
          <a:bodyPr wrap="square" numCol="1" rtlCol="0">
            <a:noAutofit/>
          </a:bodyPr>
          <a:lstStyle/>
          <a:p>
            <a:pPr marL="14288" marR="0" lvl="0" indent="-14288" algn="l" defTabSz="29119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673"/>
              </a:spcAft>
              <a:buClrTx/>
              <a:buSzTx/>
              <a:buFontTx/>
              <a:buNone/>
              <a:tabLst/>
              <a:defRPr/>
            </a:pPr>
            <a:r>
              <a:rPr kumimoji="0" lang="en-US" sz="4000" b="1" i="0" u="none" strike="noStrike" kern="1200" cap="none" spc="0" normalizeH="0" baseline="0" noProof="0" dirty="0">
                <a:ln>
                  <a:noFill/>
                </a:ln>
                <a:solidFill>
                  <a:srgbClr val="A9975C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RESULTS/PROJECT OUTCOMES</a:t>
            </a:r>
          </a:p>
          <a:p>
            <a:pPr marL="346075" marR="0" lvl="0" indent="-346075" algn="l" defTabSz="29119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73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3812" dirty="0">
                <a:solidFill>
                  <a:srgbClr val="0023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Created a Minecraft server with three complex </a:t>
            </a:r>
            <a:r>
              <a:rPr lang="en-US" sz="3812">
                <a:solidFill>
                  <a:srgbClr val="0023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worlds </a:t>
            </a:r>
          </a:p>
          <a:p>
            <a:pPr marL="346075" marR="0" lvl="0" indent="-346075" algn="l" defTabSz="29119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73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kumimoji="0" lang="en-US" sz="3812" b="0" i="0" u="none" strike="noStrike" kern="1200" cap="none" spc="0" normalizeH="0" baseline="0" noProof="0">
                <a:ln>
                  <a:noFill/>
                </a:ln>
                <a:solidFill>
                  <a:srgbClr val="00234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Enabled </a:t>
            </a:r>
            <a:r>
              <a:rPr kumimoji="0" lang="en-US" sz="3812" b="0" i="0" u="none" strike="noStrike" kern="1200" cap="none" spc="0" normalizeH="0" baseline="0" noProof="0" dirty="0">
                <a:ln>
                  <a:noFill/>
                </a:ln>
                <a:solidFill>
                  <a:srgbClr val="00234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player actions through pre-made mods/plugins and custom scripts/mods</a:t>
            </a:r>
            <a:r>
              <a:rPr lang="en-US" sz="3812" dirty="0">
                <a:solidFill>
                  <a:srgbClr val="0023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0" lang="en-US" sz="3812" b="0" i="0" u="none" strike="noStrike" kern="1200" cap="none" spc="0" normalizeH="0" baseline="0" noProof="0" dirty="0">
                <a:ln>
                  <a:noFill/>
                </a:ln>
                <a:solidFill>
                  <a:srgbClr val="00234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throughout gameplay</a:t>
            </a:r>
          </a:p>
          <a:p>
            <a:pPr marL="1802072" lvl="1" indent="-346075">
              <a:spcAft>
                <a:spcPts val="1073"/>
              </a:spcAft>
              <a:buFont typeface="Arial" panose="020B0604020202020204" pitchFamily="34" charset="0"/>
              <a:buChar char="•"/>
              <a:defRPr/>
            </a:pPr>
            <a:r>
              <a:rPr lang="en-US" sz="3200" dirty="0">
                <a:solidFill>
                  <a:srgbClr val="0023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Total mission score calculated based on tracked user </a:t>
            </a:r>
            <a:r>
              <a:rPr lang="en-US" sz="3200" b="1" dirty="0">
                <a:solidFill>
                  <a:srgbClr val="0023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actions</a:t>
            </a:r>
            <a:r>
              <a:rPr lang="en-US" sz="3200" dirty="0">
                <a:solidFill>
                  <a:srgbClr val="0023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and </a:t>
            </a:r>
            <a:r>
              <a:rPr lang="en-US" sz="3200" b="1" dirty="0">
                <a:solidFill>
                  <a:srgbClr val="0023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decision time</a:t>
            </a:r>
          </a:p>
          <a:p>
            <a:pPr marL="1802072" lvl="1" indent="-346075">
              <a:spcAft>
                <a:spcPts val="1073"/>
              </a:spcAft>
              <a:buFont typeface="Arial" panose="020B0604020202020204" pitchFamily="34" charset="0"/>
              <a:buChar char="•"/>
              <a:defRPr/>
            </a:pPr>
            <a:r>
              <a:rPr kumimoji="0" lang="en-US" sz="3200" b="0" i="0" u="none" strike="noStrike" kern="1200" cap="none" spc="0" normalizeH="0" baseline="0" noProof="0" dirty="0">
                <a:ln>
                  <a:noFill/>
                </a:ln>
                <a:solidFill>
                  <a:srgbClr val="002341"/>
                </a:solidFill>
                <a:effectLst/>
                <a:uLnTx/>
                <a:uFillTx/>
                <a:latin typeface="Arial" panose="020B0604020202020204" pitchFamily="34" charset="0"/>
                <a:ea typeface="+mn-ea"/>
                <a:cs typeface="Arial" panose="020B0604020202020204" pitchFamily="34" charset="0"/>
              </a:rPr>
              <a:t>Player action is logged to a JSON file</a:t>
            </a:r>
            <a:endParaRPr lang="en-US" sz="3812" dirty="0">
              <a:solidFill>
                <a:srgbClr val="00234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6075" marR="0" lvl="0" indent="-346075" algn="l" defTabSz="29119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73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r>
              <a:rPr lang="en-US" sz="3812" dirty="0">
                <a:solidFill>
                  <a:srgbClr val="0023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CHIMERA Minecraft sandbox will be used in future research for human-AI teaming for C4ISR decision optimization</a:t>
            </a:r>
          </a:p>
          <a:p>
            <a:pPr marL="346075" marR="0" lvl="0" indent="-346075" algn="l" defTabSz="2911994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1073"/>
              </a:spcAft>
              <a:buClrTx/>
              <a:buSzTx/>
              <a:buFont typeface="Arial" panose="020B0604020202020204" pitchFamily="34" charset="0"/>
              <a:buChar char="•"/>
              <a:tabLst/>
              <a:defRPr/>
            </a:pPr>
            <a:endParaRPr kumimoji="0" lang="en-US" sz="3200" b="0" i="0" u="none" strike="noStrike" kern="1200" cap="none" spc="0" normalizeH="0" baseline="0" noProof="0" dirty="0">
              <a:ln>
                <a:noFill/>
              </a:ln>
              <a:solidFill>
                <a:srgbClr val="002341"/>
              </a:solidFill>
              <a:effectLst/>
              <a:uLnTx/>
              <a:uFillTx/>
              <a:latin typeface="Arial" panose="020B0604020202020204" pitchFamily="34" charset="0"/>
              <a:ea typeface="+mn-ea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D97249-36EB-9643-885A-E48F73E891C9}"/>
              </a:ext>
            </a:extLst>
          </p:cNvPr>
          <p:cNvSpPr txBox="1"/>
          <p:nvPr/>
        </p:nvSpPr>
        <p:spPr>
          <a:xfrm>
            <a:off x="808790" y="13792200"/>
            <a:ext cx="9783010" cy="6776252"/>
          </a:xfrm>
          <a:prstGeom prst="rect">
            <a:avLst/>
          </a:prstGeom>
          <a:noFill/>
        </p:spPr>
        <p:txBody>
          <a:bodyPr wrap="square" numCol="1" rtlCol="0">
            <a:noAutofit/>
          </a:bodyPr>
          <a:lstStyle/>
          <a:p>
            <a:pPr marL="14288" indent="-14288">
              <a:spcAft>
                <a:spcPts val="1673"/>
              </a:spcAft>
            </a:pPr>
            <a:r>
              <a:rPr lang="en-US" sz="4000" b="1" dirty="0">
                <a:solidFill>
                  <a:srgbClr val="A9975C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TECHNICAL APPROACH</a:t>
            </a:r>
          </a:p>
          <a:p>
            <a:pPr marL="346075" indent="-346075">
              <a:spcAft>
                <a:spcPts val="1073"/>
              </a:spcAft>
              <a:buFont typeface="Arial" panose="020B0604020202020204" pitchFamily="34" charset="0"/>
              <a:buChar char="•"/>
            </a:pPr>
            <a:r>
              <a:rPr lang="en-US" sz="3812" dirty="0">
                <a:solidFill>
                  <a:srgbClr val="0023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Previous research showcased the value of using video games for human-AI teaming research (e.g., Minecraft, StarCraft) </a:t>
            </a:r>
          </a:p>
          <a:p>
            <a:pPr marL="346075" indent="-346075">
              <a:spcAft>
                <a:spcPts val="1073"/>
              </a:spcAft>
              <a:buFont typeface="Arial" panose="020B0604020202020204" pitchFamily="34" charset="0"/>
              <a:buChar char="•"/>
            </a:pPr>
            <a:r>
              <a:rPr lang="en-US" sz="3812" dirty="0">
                <a:solidFill>
                  <a:srgbClr val="0023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Utilized Minecraft to develop a gamified C3 contingency scenario designed by Professional Masters in Systems Engineering (PMASE) 2025 cohort</a:t>
            </a:r>
          </a:p>
          <a:p>
            <a:pPr marL="1802072" lvl="1" indent="-346075">
              <a:spcAft>
                <a:spcPts val="1073"/>
              </a:spcAft>
              <a:buFont typeface="Arial" panose="020B0604020202020204" pitchFamily="34" charset="0"/>
              <a:buChar char="•"/>
            </a:pPr>
            <a:r>
              <a:rPr lang="en-US" sz="3200" b="1" dirty="0">
                <a:solidFill>
                  <a:srgbClr val="0023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Mission Crew Commander (MCC) player</a:t>
            </a:r>
          </a:p>
          <a:p>
            <a:pPr marL="1802072" lvl="1" indent="-346075">
              <a:spcAft>
                <a:spcPts val="1073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23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Contingency mission, 4-person rotary wing crew to provide post-hurricane humanitarian support to </a:t>
            </a:r>
            <a:r>
              <a:rPr lang="en-US" sz="3200" b="1" dirty="0">
                <a:solidFill>
                  <a:srgbClr val="0023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Puerto Rico</a:t>
            </a:r>
            <a:endParaRPr lang="en-US" sz="3200" dirty="0">
              <a:solidFill>
                <a:srgbClr val="00234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1802072" lvl="1" indent="-346075">
              <a:spcAft>
                <a:spcPts val="1073"/>
              </a:spcAft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00234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Mission aligned with vetted cognitive workflows and Operational Risk Management (ORM) risk analysis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EAFACA23-3010-3246-8858-35855985566C}"/>
              </a:ext>
            </a:extLst>
          </p:cNvPr>
          <p:cNvSpPr/>
          <p:nvPr/>
        </p:nvSpPr>
        <p:spPr>
          <a:xfrm>
            <a:off x="10972800" y="5486400"/>
            <a:ext cx="10287001" cy="73152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</a:t>
            </a:r>
            <a:br>
              <a:rPr lang="en-US" sz="36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PHOTOS/GRAPHICS</a:t>
            </a:r>
            <a:br>
              <a:rPr lang="en-US" sz="36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AS NEEDED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7B7C8F3F-4819-594B-B0F7-E4B621AA0CDC}"/>
              </a:ext>
            </a:extLst>
          </p:cNvPr>
          <p:cNvSpPr/>
          <p:nvPr/>
        </p:nvSpPr>
        <p:spPr>
          <a:xfrm>
            <a:off x="10972800" y="13639800"/>
            <a:ext cx="10287001" cy="73152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</a:t>
            </a:r>
            <a:br>
              <a:rPr lang="en-US" sz="36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PHOTOS/GRAPHICS</a:t>
            </a:r>
            <a:br>
              <a:rPr lang="en-US" sz="36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AS NEEDED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B8F3CEB1-EDF5-1D49-B12C-0477FB1BED90}"/>
              </a:ext>
            </a:extLst>
          </p:cNvPr>
          <p:cNvSpPr/>
          <p:nvPr/>
        </p:nvSpPr>
        <p:spPr>
          <a:xfrm>
            <a:off x="10975975" y="22860000"/>
            <a:ext cx="10283826" cy="7315200"/>
          </a:xfrm>
          <a:prstGeom prst="rect">
            <a:avLst/>
          </a:prstGeom>
          <a:solidFill>
            <a:schemeClr val="bg1">
              <a:lumMod val="95000"/>
            </a:schemeClr>
          </a:solidFill>
          <a:ln w="2857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36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</a:t>
            </a:r>
            <a:br>
              <a:rPr lang="en-US" sz="36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PHOTOS/GRAPHICS</a:t>
            </a:r>
            <a:br>
              <a:rPr lang="en-US" sz="36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</a:br>
            <a:r>
              <a:rPr lang="en-US" sz="3600" dirty="0">
                <a:solidFill>
                  <a:schemeClr val="bg1">
                    <a:lumMod val="6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AS NEEDED</a:t>
            </a:r>
          </a:p>
        </p:txBody>
      </p:sp>
      <p:sp>
        <p:nvSpPr>
          <p:cNvPr id="12" name="Rectangle 7">
            <a:extLst>
              <a:ext uri="{FF2B5EF4-FFF2-40B4-BE49-F238E27FC236}">
                <a16:creationId xmlns:a16="http://schemas.microsoft.com/office/drawing/2014/main" id="{061265A3-CCA2-448C-B49D-F006293F5A97}"/>
              </a:ext>
            </a:extLst>
          </p:cNvPr>
          <p:cNvSpPr>
            <a:spLocks noChangeArrowheads="1"/>
          </p:cNvSpPr>
          <p:nvPr/>
        </p:nvSpPr>
        <p:spPr bwMode="auto">
          <a:xfrm>
            <a:off x="15240000" y="31141722"/>
            <a:ext cx="6248400" cy="63367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78909" tIns="39455" rIns="78909" bIns="39455">
            <a:spAutoFit/>
          </a:bodyPr>
          <a:lstStyle/>
          <a:p>
            <a:pPr algn="r" defTabSz="783639" fontAlgn="base">
              <a:spcBef>
                <a:spcPct val="0"/>
              </a:spcBef>
              <a:spcAft>
                <a:spcPct val="0"/>
              </a:spcAft>
              <a:tabLst>
                <a:tab pos="29489847" algn="ctr"/>
              </a:tabLst>
              <a:defRPr/>
            </a:pPr>
            <a:r>
              <a:rPr lang="en-US" sz="1800" b="1" dirty="0">
                <a:ln w="18415" cmpd="sng">
                  <a:noFill/>
                  <a:prstDash val="solid"/>
                </a:ln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Contact: Dr. Courtney Crooks</a:t>
            </a:r>
            <a:r>
              <a:rPr lang="en-US" sz="1800" dirty="0">
                <a:ln w="18415" cmpd="sng">
                  <a:noFill/>
                  <a:prstDash val="solid"/>
                </a:ln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: Phone: (404) 407-8514;</a:t>
            </a:r>
            <a:br>
              <a:rPr lang="en-US" sz="1800" dirty="0">
                <a:ln w="18415" cmpd="sng">
                  <a:noFill/>
                  <a:prstDash val="solid"/>
                </a:ln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</a:br>
            <a:r>
              <a:rPr lang="en-US" sz="1800" b="1" dirty="0">
                <a:ln w="18415" cmpd="sng">
                  <a:noFill/>
                  <a:prstDash val="solid"/>
                </a:ln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Email: </a:t>
            </a:r>
            <a:r>
              <a:rPr lang="en-US" sz="1800" dirty="0">
                <a:ln w="18415" cmpd="sng">
                  <a:noFill/>
                  <a:prstDash val="solid"/>
                </a:ln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  <a:hlinkClick r:id="rId2"/>
              </a:rPr>
              <a:t>courtney.crooks@gtri.gatech.edu</a:t>
            </a:r>
            <a:r>
              <a:rPr lang="en-US" sz="1800" dirty="0">
                <a:ln w="18415" cmpd="sng">
                  <a:noFill/>
                  <a:prstDash val="solid"/>
                </a:ln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4658DD79-9F91-4A94-B9E6-4DB3968A15FB}"/>
              </a:ext>
            </a:extLst>
          </p:cNvPr>
          <p:cNvSpPr/>
          <p:nvPr/>
        </p:nvSpPr>
        <p:spPr>
          <a:xfrm>
            <a:off x="838200" y="31171333"/>
            <a:ext cx="14935200" cy="756468"/>
          </a:xfrm>
          <a:prstGeom prst="rect">
            <a:avLst/>
          </a:prstGeom>
        </p:spPr>
        <p:txBody>
          <a:bodyPr wrap="square" numCol="1" anchor="ctr">
            <a:normAutofit fontScale="77500" lnSpcReduction="20000"/>
          </a:bodyPr>
          <a:lstStyle/>
          <a:p>
            <a:r>
              <a:rPr lang="en-US" sz="3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AUTHORS: </a:t>
            </a:r>
            <a:r>
              <a:rPr lang="en-US" sz="3300" dirty="0">
                <a:solidFill>
                  <a:schemeClr val="tx2"/>
                </a:solidFill>
              </a:rPr>
              <a:t>Nina Bryan, Aaliyah McElrath, Tommy Tran, Vivian Zhou </a:t>
            </a:r>
          </a:p>
          <a:p>
            <a:r>
              <a:rPr lang="en-US" sz="3200" b="1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COI</a:t>
            </a:r>
            <a:r>
              <a:rPr lang="en-US" sz="3200" dirty="0">
                <a:solidFill>
                  <a:schemeClr val="tx2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: </a:t>
            </a:r>
            <a:r>
              <a:rPr lang="en-US" sz="3200" dirty="0">
                <a:solidFill>
                  <a:schemeClr val="tx2"/>
                </a:solidFill>
                <a:effectLst/>
                <a:latin typeface="Arial" panose="020B0604020202020204" pitchFamily="34" charset="0"/>
                <a:ea typeface="Aptos" panose="020B0004020202020204" pitchFamily="34" charset="0"/>
                <a:cs typeface="Arial" panose="020B0604020202020204" pitchFamily="34" charset="0"/>
              </a:rPr>
              <a:t>Command, Control, Communications, Computers, and Intelligence (C4I)</a:t>
            </a:r>
            <a:endParaRPr lang="en-US" sz="3200" dirty="0">
              <a:solidFill>
                <a:schemeClr val="tx2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itle 39">
            <a:extLst>
              <a:ext uri="{FF2B5EF4-FFF2-40B4-BE49-F238E27FC236}">
                <a16:creationId xmlns:a16="http://schemas.microsoft.com/office/drawing/2014/main" id="{2282EF17-1374-41A1-9D34-BA6A25941A8E}"/>
              </a:ext>
            </a:extLst>
          </p:cNvPr>
          <p:cNvSpPr txBox="1">
            <a:spLocks/>
          </p:cNvSpPr>
          <p:nvPr/>
        </p:nvSpPr>
        <p:spPr>
          <a:xfrm>
            <a:off x="2895600" y="3760948"/>
            <a:ext cx="15392400" cy="1115852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000" b="0" cap="none" dirty="0">
                <a:solidFill>
                  <a:srgbClr val="00325E"/>
                </a:solidFill>
                <a:latin typeface="Arial" panose="020B0604020202020204" pitchFamily="34" charset="0"/>
                <a:ea typeface="Tahoma" panose="020B0604030504040204" pitchFamily="34" charset="0"/>
                <a:cs typeface="Arial" panose="020B0604020202020204" pitchFamily="34" charset="0"/>
              </a:rPr>
              <a:t>CHIMERA - Creating Human-Centered AI/ML to Enhance Rational Advantage</a:t>
            </a:r>
          </a:p>
          <a:p>
            <a:pPr algn="ctr"/>
            <a:endParaRPr lang="en-US" sz="6000" b="1" dirty="0">
              <a:solidFill>
                <a:srgbClr val="00325E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Title 39">
            <a:extLst>
              <a:ext uri="{FF2B5EF4-FFF2-40B4-BE49-F238E27FC236}">
                <a16:creationId xmlns:a16="http://schemas.microsoft.com/office/drawing/2014/main" id="{A6EA9C5B-A05E-6BA4-76DB-016FF427D7BD}"/>
              </a:ext>
            </a:extLst>
          </p:cNvPr>
          <p:cNvSpPr txBox="1">
            <a:spLocks/>
          </p:cNvSpPr>
          <p:nvPr/>
        </p:nvSpPr>
        <p:spPr>
          <a:xfrm>
            <a:off x="2667000" y="954582"/>
            <a:ext cx="15392400" cy="1115851"/>
          </a:xfrm>
          <a:prstGeom prst="rect">
            <a:avLst/>
          </a:prstGeom>
        </p:spPr>
        <p:txBody>
          <a:bodyPr anchor="ctr"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en-US" sz="6600" b="1" dirty="0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Exploration of Human-AI Teaming Concepts in Minecraft</a:t>
            </a:r>
          </a:p>
        </p:txBody>
      </p:sp>
      <p:pic>
        <p:nvPicPr>
          <p:cNvPr id="10" name="Picture 9" descr="Map&#10;&#10;AI-generated content may be incorrect.">
            <a:extLst>
              <a:ext uri="{FF2B5EF4-FFF2-40B4-BE49-F238E27FC236}">
                <a16:creationId xmlns:a16="http://schemas.microsoft.com/office/drawing/2014/main" id="{B42BF3BE-4EB8-399A-5566-0B2EBF9E8D0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972799" y="14665988"/>
            <a:ext cx="10287001" cy="5519854"/>
          </a:xfrm>
          <a:prstGeom prst="rect">
            <a:avLst/>
          </a:prstGeom>
        </p:spPr>
      </p:pic>
      <p:pic>
        <p:nvPicPr>
          <p:cNvPr id="11" name="Picture 10" descr="Text&#10;&#10;AI-generated content may be incorrect.">
            <a:extLst>
              <a:ext uri="{FF2B5EF4-FFF2-40B4-BE49-F238E27FC236}">
                <a16:creationId xmlns:a16="http://schemas.microsoft.com/office/drawing/2014/main" id="{787AF580-DAF4-F34A-9D24-17165AD8AFE2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969626" y="23496558"/>
            <a:ext cx="10252074" cy="6094289"/>
          </a:xfrm>
          <a:prstGeom prst="rect">
            <a:avLst/>
          </a:prstGeom>
        </p:spPr>
      </p:pic>
      <p:pic>
        <p:nvPicPr>
          <p:cNvPr id="19" name="Picture 18" descr="Graphical user interface, application&#10;&#10;AI-generated content may be incorrect.">
            <a:extLst>
              <a:ext uri="{FF2B5EF4-FFF2-40B4-BE49-F238E27FC236}">
                <a16:creationId xmlns:a16="http://schemas.microsoft.com/office/drawing/2014/main" id="{C628C5DB-B24E-2F14-231E-887A3AC3967D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2438063" y="5486400"/>
            <a:ext cx="7315200" cy="73152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15502135"/>
      </p:ext>
    </p:extLst>
  </p:cSld>
  <p:clrMapOvr>
    <a:masterClrMapping/>
  </p:clrMapOvr>
</p:sld>
</file>

<file path=ppt/theme/theme1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item1.xml><?xml version="1.0" encoding="utf-8"?>
<tns:customPropertyEditors xmlns:tns="http://schemas.microsoft.com/office/2006/customDocumentInformationPanel">
  <tns:showOnOpen>true</tns:showOnOpen>
  <tns:defaultPropertyEditorNamespace>Standard properties</tns:defaultPropertyEditorNamespace>
</tns:customPropertyEditors>
</file>

<file path=customXml/itemProps1.xml><?xml version="1.0" encoding="utf-8"?>
<ds:datastoreItem xmlns:ds="http://schemas.openxmlformats.org/officeDocument/2006/customXml" ds:itemID="{781198B6-FDA3-4ACF-B709-BE7677A4104F}">
  <ds:schemaRefs>
    <ds:schemaRef ds:uri="http://schemas.microsoft.com/office/2006/customDocumentInformationPanel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48158</TotalTime>
  <Words>313</Words>
  <Application>Microsoft Macintosh PowerPoint</Application>
  <PresentationFormat>Custom</PresentationFormat>
  <Paragraphs>26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Arial</vt:lpstr>
      <vt:lpstr>Arial Narrow</vt:lpstr>
      <vt:lpstr>Calibri</vt:lpstr>
      <vt:lpstr>Custom Design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Name</dc:title>
  <dc:subject> </dc:subject>
  <dc:creator>Hynes, Timothy M.</dc:creator>
  <cp:keywords> </cp:keywords>
  <dc:description/>
  <cp:lastModifiedBy>Crooks, Courtney L.</cp:lastModifiedBy>
  <cp:revision>310</cp:revision>
  <cp:lastPrinted>2021-04-05T20:39:48Z</cp:lastPrinted>
  <dcterms:created xsi:type="dcterms:W3CDTF">2016-01-13T12:43:18Z</dcterms:created>
  <dcterms:modified xsi:type="dcterms:W3CDTF">2025-07-11T18:12:59Z</dcterms:modified>
  <cp:category/>
</cp:coreProperties>
</file>